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notesMasterIdLst>
    <p:notesMasterId r:id="rId6"/>
  </p:notesMasterIdLst>
  <p:sldIdLst>
    <p:sldId id="257" r:id="rId2"/>
    <p:sldId id="261" r:id="rId3"/>
    <p:sldId id="262" r:id="rId4"/>
    <p:sldId id="263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9013"/>
    <a:srgbClr val="706F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8"/>
    <p:restoredTop sz="94670"/>
  </p:normalViewPr>
  <p:slideViewPr>
    <p:cSldViewPr snapToGrid="0">
      <p:cViewPr varScale="1">
        <p:scale>
          <a:sx n="117" d="100"/>
          <a:sy n="117" d="100"/>
        </p:scale>
        <p:origin x="6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D1EF0E-62FF-CF41-9752-7E33E524C1D2}" type="datetimeFigureOut">
              <a:rPr lang="it-IT" smtClean="0"/>
              <a:t>18/10/26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CAA358-CB87-854A-BD02-BC30ED04A69B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25729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10/18/26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7842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10/18/26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012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10/18/26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432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10/18/26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420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10/18/26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3206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10/18/26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864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10/18/26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25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10/18/26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480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10/18/26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170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10/18/26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44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10/18/26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133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4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3C2B07E4-CDF9-4C88-A2F3-04620E58224D}" type="datetimeFigureOut">
              <a:rPr lang="en-US" smtClean="0"/>
              <a:pPr/>
              <a:t>10/18/26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EFE71E98-A417-4ECC-ACEB-C0490C20DB04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5184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7" r:id="rId6"/>
    <p:sldLayoutId id="2147483732" r:id="rId7"/>
    <p:sldLayoutId id="2147483733" r:id="rId8"/>
    <p:sldLayoutId id="2147483734" r:id="rId9"/>
    <p:sldLayoutId id="2147483736" r:id="rId10"/>
    <p:sldLayoutId id="2147483735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128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FFB3102-3670-3638-06A8-57166BCDC49B}"/>
              </a:ext>
            </a:extLst>
          </p:cNvPr>
          <p:cNvSpPr txBox="1"/>
          <p:nvPr/>
        </p:nvSpPr>
        <p:spPr>
          <a:xfrm>
            <a:off x="4183666" y="5131803"/>
            <a:ext cx="30721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dirty="0">
                <a:solidFill>
                  <a:srgbClr val="706F6F"/>
                </a:solidFill>
                <a:latin typeface="MKAbel" panose="02000606040000020004" pitchFamily="2" charset="0"/>
              </a:rPr>
              <a:t>Analisi Traffico Istat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76C2C772-DF53-5157-471C-FD2BE47AB5A7}"/>
              </a:ext>
            </a:extLst>
          </p:cNvPr>
          <p:cNvSpPr/>
          <p:nvPr/>
        </p:nvSpPr>
        <p:spPr>
          <a:xfrm>
            <a:off x="2669059" y="5693719"/>
            <a:ext cx="7006281" cy="45719"/>
          </a:xfrm>
          <a:prstGeom prst="rect">
            <a:avLst/>
          </a:prstGeom>
          <a:solidFill>
            <a:srgbClr val="DB9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6FBA459-897F-0B31-2153-F0171CCAB51C}"/>
              </a:ext>
            </a:extLst>
          </p:cNvPr>
          <p:cNvSpPr txBox="1"/>
          <p:nvPr/>
        </p:nvSpPr>
        <p:spPr>
          <a:xfrm>
            <a:off x="3080961" y="1118562"/>
            <a:ext cx="5277535" cy="26161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6600" b="1" dirty="0">
                <a:solidFill>
                  <a:schemeClr val="bg1"/>
                </a:solidFill>
                <a:latin typeface="MKAbel" panose="02000606040000020004" pitchFamily="2" charset="0"/>
              </a:rPr>
              <a:t>Final Project</a:t>
            </a:r>
          </a:p>
          <a:p>
            <a:pPr algn="ctr"/>
            <a:endParaRPr lang="it-IT" sz="4400" dirty="0">
              <a:solidFill>
                <a:schemeClr val="bg1"/>
              </a:solidFill>
              <a:latin typeface="MKAbel" panose="02000606040000020004" pitchFamily="2" charset="0"/>
            </a:endParaRPr>
          </a:p>
          <a:p>
            <a:r>
              <a:rPr lang="it-IT" sz="5400" dirty="0">
                <a:solidFill>
                  <a:schemeClr val="bg1"/>
                </a:solidFill>
                <a:latin typeface="MKAbel" panose="02000606040000020004" pitchFamily="2" charset="0"/>
              </a:rPr>
              <a:t>Master Data Analyst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40D789A-AFDC-CDBF-A04D-411F0DC2E8FA}"/>
              </a:ext>
            </a:extLst>
          </p:cNvPr>
          <p:cNvSpPr txBox="1"/>
          <p:nvPr/>
        </p:nvSpPr>
        <p:spPr>
          <a:xfrm>
            <a:off x="6708994" y="5739438"/>
            <a:ext cx="2499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  <a:latin typeface="MKAbel" panose="02000606040000020004" pitchFamily="2" charset="0"/>
              </a:rPr>
              <a:t>A cura di Gianmaria Avesani</a:t>
            </a:r>
          </a:p>
        </p:txBody>
      </p:sp>
    </p:spTree>
    <p:extLst>
      <p:ext uri="{BB962C8B-B14F-4D97-AF65-F5344CB8AC3E}">
        <p14:creationId xmlns:p14="http://schemas.microsoft.com/office/powerpoint/2010/main" val="2173766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58D8344E-5448-5940-6D1E-33BC8C3A5045}"/>
              </a:ext>
            </a:extLst>
          </p:cNvPr>
          <p:cNvSpPr txBox="1"/>
          <p:nvPr/>
        </p:nvSpPr>
        <p:spPr>
          <a:xfrm>
            <a:off x="473740" y="532971"/>
            <a:ext cx="1904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>
                <a:solidFill>
                  <a:schemeClr val="bg1"/>
                </a:solidFill>
                <a:latin typeface="MKAbel" panose="02000606040000020004" pitchFamily="2" charset="0"/>
              </a:rPr>
              <a:t>Traccia e Dati</a:t>
            </a:r>
            <a:endParaRPr lang="it-IT" sz="2800" i="1" dirty="0">
              <a:solidFill>
                <a:schemeClr val="bg1"/>
              </a:solidFill>
              <a:latin typeface="MKAbel" panose="02000606040000020004" pitchFamily="2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20C55FB-0110-B2B4-7A3E-4B862C3E3D66}"/>
              </a:ext>
            </a:extLst>
          </p:cNvPr>
          <p:cNvSpPr txBox="1"/>
          <p:nvPr/>
        </p:nvSpPr>
        <p:spPr>
          <a:xfrm>
            <a:off x="742884" y="1339705"/>
            <a:ext cx="9369945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it-IT" b="1" dirty="0">
                <a:solidFill>
                  <a:schemeClr val="bg1"/>
                </a:solidFill>
                <a:latin typeface="MKAbel" panose="02000606040000020004" pitchFamily="2" charset="0"/>
              </a:rPr>
              <a:t>Traccia</a:t>
            </a:r>
            <a:r>
              <a:rPr lang="it-IT" dirty="0">
                <a:solidFill>
                  <a:schemeClr val="bg1"/>
                </a:solidFill>
                <a:latin typeface="MKAbel" panose="02000606040000020004" pitchFamily="2" charset="0"/>
              </a:rPr>
              <a:t>: l’analisi presupponeva di essere dipendenti di un’azienda che si occupa di traffico stradale e prevenzione dei rischi; la richiesta era di svolgere un’analisi sui migliori comuni italiani in cui investire, andando nel dettaglio con analisi su indici.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r>
              <a:rPr lang="it-IT" b="1" dirty="0">
                <a:solidFill>
                  <a:schemeClr val="bg1"/>
                </a:solidFill>
                <a:latin typeface="MKAbel" panose="02000606040000020004" pitchFamily="2" charset="0"/>
              </a:rPr>
              <a:t>Dati e Fonti</a:t>
            </a:r>
            <a:r>
              <a:rPr lang="it-IT" dirty="0">
                <a:solidFill>
                  <a:schemeClr val="bg1"/>
                </a:solidFill>
                <a:latin typeface="MKAbel" panose="02000606040000020004" pitchFamily="2" charset="0"/>
              </a:rPr>
              <a:t>: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sz="1600" i="1" dirty="0">
                <a:solidFill>
                  <a:schemeClr val="bg1"/>
                </a:solidFill>
                <a:latin typeface="MKAbel" panose="02000606040000020004" pitchFamily="2" charset="0"/>
              </a:rPr>
              <a:t>Informazioni comunali (Istat-Situas)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sz="1600" i="1" dirty="0">
                <a:solidFill>
                  <a:schemeClr val="bg1"/>
                </a:solidFill>
                <a:latin typeface="MKAbel" panose="02000606040000020004" pitchFamily="2" charset="0"/>
              </a:rPr>
              <a:t>Incidenti (Istat)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sz="1600" i="1" dirty="0">
                <a:solidFill>
                  <a:schemeClr val="bg1"/>
                </a:solidFill>
                <a:latin typeface="MKAbel" panose="02000606040000020004" pitchFamily="2" charset="0"/>
              </a:rPr>
              <a:t>Statistiche comunali (Garda informatica)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sz="1600" i="1" dirty="0">
                <a:solidFill>
                  <a:schemeClr val="bg1"/>
                </a:solidFill>
                <a:latin typeface="MKAbel" panose="02000606040000020004" pitchFamily="2" charset="0"/>
              </a:rPr>
              <a:t>Statistiche comunali2 (Anagrafe Nazionale)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r>
              <a:rPr lang="it-IT" b="1" dirty="0">
                <a:solidFill>
                  <a:schemeClr val="bg1"/>
                </a:solidFill>
                <a:latin typeface="MKAbel" panose="02000606040000020004" pitchFamily="2" charset="0"/>
              </a:rPr>
              <a:t>Periodo</a:t>
            </a:r>
            <a:r>
              <a:rPr lang="it-IT" dirty="0">
                <a:solidFill>
                  <a:schemeClr val="bg1"/>
                </a:solidFill>
                <a:latin typeface="MKAbel" panose="02000606040000020004" pitchFamily="2" charset="0"/>
              </a:rPr>
              <a:t> in </a:t>
            </a:r>
            <a:r>
              <a:rPr lang="it-IT" b="1" dirty="0">
                <a:solidFill>
                  <a:schemeClr val="bg1"/>
                </a:solidFill>
                <a:latin typeface="MKAbel" panose="02000606040000020004" pitchFamily="2" charset="0"/>
              </a:rPr>
              <a:t>analisi</a:t>
            </a:r>
            <a:r>
              <a:rPr lang="it-IT" dirty="0">
                <a:solidFill>
                  <a:schemeClr val="bg1"/>
                </a:solidFill>
                <a:latin typeface="MKAbel" panose="02000606040000020004" pitchFamily="2" charset="0"/>
              </a:rPr>
              <a:t>: 2001-2024</a:t>
            </a:r>
          </a:p>
          <a:p>
            <a:pPr>
              <a:lnSpc>
                <a:spcPct val="150000"/>
              </a:lnSpc>
            </a:pPr>
            <a:endParaRPr lang="it-IT" sz="1600" i="1" dirty="0">
              <a:solidFill>
                <a:schemeClr val="bg1"/>
              </a:solidFill>
              <a:latin typeface="MKAbel" panose="0200060604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086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FD427-2F96-28B6-5BAB-581F11CA2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BEA8ED50-13A0-1665-A845-4A72FA10D65B}"/>
              </a:ext>
            </a:extLst>
          </p:cNvPr>
          <p:cNvSpPr txBox="1"/>
          <p:nvPr/>
        </p:nvSpPr>
        <p:spPr>
          <a:xfrm>
            <a:off x="473740" y="532971"/>
            <a:ext cx="1968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>
                <a:solidFill>
                  <a:schemeClr val="bg1"/>
                </a:solidFill>
                <a:latin typeface="MKAbel" panose="02000606040000020004" pitchFamily="2" charset="0"/>
              </a:rPr>
              <a:t>Processo </a:t>
            </a:r>
            <a:r>
              <a:rPr lang="it-IT" i="1" dirty="0">
                <a:solidFill>
                  <a:schemeClr val="bg1"/>
                </a:solidFill>
                <a:latin typeface="MKAbel" panose="02000606040000020004" pitchFamily="2" charset="0"/>
              </a:rPr>
              <a:t>logico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0787112-86CF-F5A8-C9B2-FD8AC6200EA9}"/>
              </a:ext>
            </a:extLst>
          </p:cNvPr>
          <p:cNvSpPr txBox="1"/>
          <p:nvPr/>
        </p:nvSpPr>
        <p:spPr>
          <a:xfrm>
            <a:off x="742884" y="1339705"/>
            <a:ext cx="9369945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r>
              <a:rPr lang="it-IT" dirty="0">
                <a:solidFill>
                  <a:schemeClr val="bg1"/>
                </a:solidFill>
                <a:latin typeface="MKAbel" panose="02000606040000020004" pitchFamily="2" charset="0"/>
              </a:rPr>
              <a:t>Pulizia Dati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r>
              <a:rPr lang="it-IT" dirty="0">
                <a:solidFill>
                  <a:schemeClr val="bg1"/>
                </a:solidFill>
                <a:latin typeface="MKAbel" panose="02000606040000020004" pitchFamily="2" charset="0"/>
              </a:rPr>
              <a:t>Unificazione di più dataframe in uno unico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r>
              <a:rPr lang="it-IT" dirty="0">
                <a:solidFill>
                  <a:schemeClr val="bg1"/>
                </a:solidFill>
                <a:latin typeface="MKAbel" panose="02000606040000020004" pitchFamily="2" charset="0"/>
              </a:rPr>
              <a:t>Analisi per step gerarchici: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600" i="1" dirty="0">
                <a:solidFill>
                  <a:schemeClr val="bg1"/>
                </a:solidFill>
                <a:latin typeface="MKAbel" panose="02000606040000020004" pitchFamily="2" charset="0"/>
              </a:rPr>
              <a:t>Nazionale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600" i="1" dirty="0">
                <a:solidFill>
                  <a:schemeClr val="bg1"/>
                </a:solidFill>
                <a:latin typeface="MKAbel" panose="02000606040000020004" pitchFamily="2" charset="0"/>
              </a:rPr>
              <a:t>Regionale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600" i="1" dirty="0">
                <a:solidFill>
                  <a:schemeClr val="bg1"/>
                </a:solidFill>
                <a:latin typeface="MKAbel" panose="02000606040000020004" pitchFamily="2" charset="0"/>
              </a:rPr>
              <a:t>Provinciale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600" i="1" dirty="0">
                <a:solidFill>
                  <a:schemeClr val="bg1"/>
                </a:solidFill>
                <a:latin typeface="MKAbel" panose="02000606040000020004" pitchFamily="2" charset="0"/>
              </a:rPr>
              <a:t>Comunale</a:t>
            </a:r>
          </a:p>
          <a:p>
            <a:pPr>
              <a:lnSpc>
                <a:spcPct val="150000"/>
              </a:lnSpc>
            </a:pPr>
            <a:endParaRPr lang="it-IT" sz="1600" i="1" dirty="0">
              <a:solidFill>
                <a:schemeClr val="bg1"/>
              </a:solidFill>
              <a:latin typeface="MKAbel" panose="0200060604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8981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ADCAD-F77A-597F-28A1-DD84F4838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CF5BF63B-D912-D876-D714-58D96B06DCA1}"/>
              </a:ext>
            </a:extLst>
          </p:cNvPr>
          <p:cNvSpPr txBox="1"/>
          <p:nvPr/>
        </p:nvSpPr>
        <p:spPr>
          <a:xfrm>
            <a:off x="473740" y="532971"/>
            <a:ext cx="22840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>
                <a:solidFill>
                  <a:schemeClr val="bg1"/>
                </a:solidFill>
                <a:latin typeface="MKAbel" panose="02000606040000020004" pitchFamily="2" charset="0"/>
              </a:rPr>
              <a:t>Strumenti </a:t>
            </a:r>
            <a:r>
              <a:rPr lang="it-IT" i="1" dirty="0">
                <a:solidFill>
                  <a:schemeClr val="bg1"/>
                </a:solidFill>
                <a:latin typeface="MKAbel" panose="02000606040000020004" pitchFamily="2" charset="0"/>
              </a:rPr>
              <a:t>Utilizzati</a:t>
            </a:r>
            <a:endParaRPr lang="it-IT" sz="2800" i="1" dirty="0">
              <a:solidFill>
                <a:schemeClr val="bg1"/>
              </a:solidFill>
              <a:latin typeface="MKAbel" panose="02000606040000020004" pitchFamily="2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C015F5C-ED92-D4F3-87BA-CB576B73B2AD}"/>
              </a:ext>
            </a:extLst>
          </p:cNvPr>
          <p:cNvSpPr txBox="1"/>
          <p:nvPr/>
        </p:nvSpPr>
        <p:spPr>
          <a:xfrm>
            <a:off x="742884" y="1339705"/>
            <a:ext cx="9369945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r>
              <a:rPr lang="it-IT" dirty="0">
                <a:solidFill>
                  <a:schemeClr val="bg1"/>
                </a:solidFill>
                <a:latin typeface="MKAbel" panose="02000606040000020004" pitchFamily="2" charset="0"/>
              </a:rPr>
              <a:t>Python: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sz="1600" i="1" dirty="0">
                <a:solidFill>
                  <a:schemeClr val="bg1"/>
                </a:solidFill>
                <a:latin typeface="MKAbel" panose="02000606040000020004" pitchFamily="2" charset="0"/>
              </a:rPr>
              <a:t>Estrazione e pulizia dati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sz="1600" i="1" dirty="0">
                <a:solidFill>
                  <a:schemeClr val="bg1"/>
                </a:solidFill>
                <a:latin typeface="MKAbel" panose="02000606040000020004" pitchFamily="2" charset="0"/>
              </a:rPr>
              <a:t>Analisi statistiche con relativi grafici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sz="1600" i="1" dirty="0">
                <a:solidFill>
                  <a:schemeClr val="bg1"/>
                </a:solidFill>
                <a:latin typeface="MKAbel" panose="02000606040000020004" pitchFamily="2" charset="0"/>
              </a:rPr>
              <a:t>Analisi e creazione indici (nuove colonne)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sz="1600" i="1" dirty="0">
                <a:solidFill>
                  <a:schemeClr val="bg1"/>
                </a:solidFill>
                <a:latin typeface="MKAbel" panose="02000606040000020004" pitchFamily="2" charset="0"/>
              </a:rPr>
              <a:t>Web scraping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sz="1600" i="1" dirty="0" err="1">
                <a:solidFill>
                  <a:schemeClr val="bg1"/>
                </a:solidFill>
                <a:latin typeface="MKAbel" panose="02000606040000020004" pitchFamily="2" charset="0"/>
              </a:rPr>
              <a:t>Clusterizzazione</a:t>
            </a:r>
            <a:endParaRPr lang="it-IT" sz="1600" i="1" dirty="0">
              <a:solidFill>
                <a:schemeClr val="bg1"/>
              </a:solidFill>
              <a:latin typeface="MKAbel" panose="02000606040000020004" pitchFamily="2" charset="0"/>
            </a:endParaRP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ü"/>
            </a:pPr>
            <a:r>
              <a:rPr lang="it-IT" dirty="0">
                <a:solidFill>
                  <a:schemeClr val="bg1"/>
                </a:solidFill>
                <a:latin typeface="MKAbel" panose="02000606040000020004" pitchFamily="2" charset="0"/>
              </a:rPr>
              <a:t>Power BI: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sz="1600" i="1" dirty="0">
                <a:solidFill>
                  <a:schemeClr val="bg1"/>
                </a:solidFill>
                <a:latin typeface="MKAbel" panose="02000606040000020004" pitchFamily="2" charset="0"/>
              </a:rPr>
              <a:t>Creazione misure mediante DAX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sz="1600" i="1" dirty="0">
                <a:solidFill>
                  <a:schemeClr val="bg1"/>
                </a:solidFill>
                <a:latin typeface="MKAbel" panose="02000606040000020004" pitchFamily="2" charset="0"/>
              </a:rPr>
              <a:t>Creazione tabella ’Anni’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it-IT" sz="1600" i="1" dirty="0">
                <a:solidFill>
                  <a:schemeClr val="bg1"/>
                </a:solidFill>
                <a:latin typeface="MKAbel" panose="02000606040000020004" pitchFamily="2" charset="0"/>
              </a:rPr>
              <a:t>Creazione report finale</a:t>
            </a:r>
          </a:p>
          <a:p>
            <a:pPr>
              <a:lnSpc>
                <a:spcPct val="150000"/>
              </a:lnSpc>
            </a:pPr>
            <a:endParaRPr lang="it-IT" sz="1600" i="1" dirty="0">
              <a:solidFill>
                <a:schemeClr val="bg1"/>
              </a:solidFill>
              <a:latin typeface="MKAbel" panose="0200060604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783078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AnalogousFromLightSeedLeftStep">
      <a:dk1>
        <a:srgbClr val="000000"/>
      </a:dk1>
      <a:lt1>
        <a:srgbClr val="FFFFFF"/>
      </a:lt1>
      <a:dk2>
        <a:srgbClr val="242B41"/>
      </a:dk2>
      <a:lt2>
        <a:srgbClr val="E2E8E2"/>
      </a:lt2>
      <a:accent1>
        <a:srgbClr val="D18BD1"/>
      </a:accent1>
      <a:accent2>
        <a:srgbClr val="A471C7"/>
      </a:accent2>
      <a:accent3>
        <a:srgbClr val="978BD1"/>
      </a:accent3>
      <a:accent4>
        <a:srgbClr val="7186C7"/>
      </a:accent4>
      <a:accent5>
        <a:srgbClr val="71AAC7"/>
      </a:accent5>
      <a:accent6>
        <a:srgbClr val="65B1AB"/>
      </a:accent6>
      <a:hlink>
        <a:srgbClr val="568F57"/>
      </a:hlink>
      <a:folHlink>
        <a:srgbClr val="7F7F7F"/>
      </a:folHlink>
    </a:clrScheme>
    <a:fontScheme name="Earth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0E0D5035-C7F2-4607-91F4-D5D5F886A15A}" vid="{EAFF3D8B-AC13-4E90-80A9-182200FBC866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2659</TotalTime>
  <Words>146</Words>
  <Application>Microsoft Macintosh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12" baseType="lpstr">
      <vt:lpstr>Aptos</vt:lpstr>
      <vt:lpstr>Arial</vt:lpstr>
      <vt:lpstr>Courier New</vt:lpstr>
      <vt:lpstr>MKAbel</vt:lpstr>
      <vt:lpstr>Trade Gothic Next Cond</vt:lpstr>
      <vt:lpstr>Trade Gothic Next Light</vt:lpstr>
      <vt:lpstr>Wingdings</vt:lpstr>
      <vt:lpstr>PortalVTI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fulvio moretto</dc:creator>
  <cp:lastModifiedBy>Gianmaria Avesani</cp:lastModifiedBy>
  <cp:revision>32</cp:revision>
  <dcterms:created xsi:type="dcterms:W3CDTF">2024-04-07T20:03:33Z</dcterms:created>
  <dcterms:modified xsi:type="dcterms:W3CDTF">2026-10-18T16:38:42Z</dcterms:modified>
</cp:coreProperties>
</file>